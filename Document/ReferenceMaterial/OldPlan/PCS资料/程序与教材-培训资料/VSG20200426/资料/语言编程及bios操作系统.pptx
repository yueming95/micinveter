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8" r:id="rId2"/>
    <p:sldId id="268" r:id="rId3"/>
    <p:sldId id="262" r:id="rId4"/>
    <p:sldId id="261" r:id="rId5"/>
    <p:sldId id="260" r:id="rId6"/>
    <p:sldId id="257" r:id="rId7"/>
    <p:sldId id="263" r:id="rId8"/>
    <p:sldId id="264" r:id="rId9"/>
    <p:sldId id="265" r:id="rId10"/>
    <p:sldId id="267" r:id="rId11"/>
    <p:sldId id="266" r:id="rId12"/>
    <p:sldId id="269" r:id="rId13"/>
    <p:sldId id="270" r:id="rId14"/>
    <p:sldId id="271" r:id="rId15"/>
    <p:sldId id="272" r:id="rId16"/>
    <p:sldId id="274" r:id="rId17"/>
    <p:sldId id="273" r:id="rId18"/>
    <p:sldId id="283" r:id="rId19"/>
    <p:sldId id="277" r:id="rId20"/>
    <p:sldId id="282" r:id="rId21"/>
    <p:sldId id="278" r:id="rId22"/>
    <p:sldId id="279" r:id="rId23"/>
    <p:sldId id="280" r:id="rId24"/>
    <p:sldId id="259" r:id="rId25"/>
    <p:sldId id="275" r:id="rId26"/>
    <p:sldId id="284" r:id="rId2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AD93A-BD24-40C2-AB57-B1D3ED3B1A76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8E425-0037-47FB-B791-DE2F691F0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0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8E425-0037-47FB-B791-DE2F691F0EF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016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7" descr="PPT-0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3146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27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2554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465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41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153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39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642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3849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21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4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B635F-93E2-4D49-B965-CABFB4614380}" type="datetimeFigureOut">
              <a:rPr lang="zh-CN" altLang="en-US" smtClean="0"/>
              <a:t>2017-12-4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74F88-A603-4190-B842-EEC648BD932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7" descr="PPT-03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35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语言编程及</a:t>
            </a:r>
            <a:r>
              <a:rPr lang="en-US" altLang="zh-CN" dirty="0" smtClean="0"/>
              <a:t>Bios</a:t>
            </a:r>
            <a:r>
              <a:rPr lang="zh-CN" altLang="en-US" dirty="0" smtClean="0"/>
              <a:t>操作系统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张国菊 </a:t>
            </a:r>
            <a:r>
              <a:rPr lang="en-US" altLang="zh-CN" smtClean="0"/>
              <a:t>201712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180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 smtClean="0"/>
              <a:t>语言</a:t>
            </a:r>
            <a:r>
              <a:rPr lang="zh-CN" altLang="en-US" dirty="0" smtClean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理解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编码风格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性能优化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软件模块和模块化分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防御性编程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测试和评审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698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9087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语法</a:t>
            </a:r>
            <a:r>
              <a:rPr lang="zh-CN" altLang="en-US" dirty="0" smtClean="0"/>
              <a:t>及语义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7931224" cy="16127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err="1"/>
              <a:t>const</a:t>
            </a:r>
            <a:r>
              <a:rPr lang="en-US" altLang="zh-CN" b="1" dirty="0"/>
              <a:t> </a:t>
            </a:r>
            <a:r>
              <a:rPr lang="en-US" altLang="zh-CN" b="1" dirty="0" smtClean="0"/>
              <a:t>  INT16S   </a:t>
            </a:r>
            <a:r>
              <a:rPr lang="en-US" altLang="zh-CN" b="1" dirty="0" err="1" smtClean="0"/>
              <a:t>wtest</a:t>
            </a:r>
            <a:r>
              <a:rPr lang="en-US" altLang="zh-CN" b="1" dirty="0" smtClean="0"/>
              <a:t> </a:t>
            </a:r>
            <a:r>
              <a:rPr lang="en-US" altLang="zh-CN" b="1" dirty="0"/>
              <a:t>= -123</a:t>
            </a:r>
            <a:r>
              <a:rPr lang="en-US" altLang="zh-CN" b="1" dirty="0" smtClean="0"/>
              <a:t>;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wtest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++; </a:t>
            </a:r>
            <a:r>
              <a:rPr lang="zh-CN" altLang="en-US" b="1" dirty="0" smtClean="0"/>
              <a:t>编译器处理语法错误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755576" y="4149080"/>
            <a:ext cx="7931224" cy="1977083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err="1"/>
              <a:t>const</a:t>
            </a:r>
            <a:r>
              <a:rPr lang="en-US" altLang="zh-CN" b="1" dirty="0"/>
              <a:t>   INT16S   </a:t>
            </a:r>
            <a:r>
              <a:rPr lang="en-US" altLang="zh-CN" b="1" dirty="0" err="1"/>
              <a:t>wtest</a:t>
            </a:r>
            <a:r>
              <a:rPr lang="en-US" altLang="zh-CN" b="1" dirty="0"/>
              <a:t> = -123</a:t>
            </a:r>
            <a:r>
              <a:rPr lang="en-US" altLang="zh-CN" b="1" dirty="0" smtClean="0"/>
              <a:t>;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a = </a:t>
            </a:r>
            <a:r>
              <a:rPr lang="en-US" altLang="zh-CN" b="1" dirty="0" err="1" smtClean="0">
                <a:solidFill>
                  <a:srgbClr val="FF0000"/>
                </a:solidFill>
              </a:rPr>
              <a:t>sqrt</a:t>
            </a:r>
            <a:r>
              <a:rPr lang="en-US" altLang="zh-CN" b="1" dirty="0" smtClean="0">
                <a:solidFill>
                  <a:srgbClr val="FF0000"/>
                </a:solidFill>
              </a:rPr>
              <a:t>(</a:t>
            </a:r>
            <a:r>
              <a:rPr lang="en-US" altLang="zh-CN" b="1" dirty="0" err="1" smtClean="0">
                <a:solidFill>
                  <a:srgbClr val="FF0000"/>
                </a:solidFill>
              </a:rPr>
              <a:t>wtest</a:t>
            </a:r>
            <a:r>
              <a:rPr lang="en-US" altLang="zh-CN" b="1" dirty="0" smtClean="0">
                <a:solidFill>
                  <a:srgbClr val="FF0000"/>
                </a:solidFill>
              </a:rPr>
              <a:t>);  </a:t>
            </a:r>
            <a:r>
              <a:rPr lang="zh-CN" altLang="en-US" b="1" dirty="0" smtClean="0"/>
              <a:t>语义错误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4828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18110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乱序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97078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编译乱序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a;</a:t>
            </a:r>
          </a:p>
          <a:p>
            <a:pPr marL="0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b;</a:t>
            </a:r>
          </a:p>
          <a:p>
            <a:pPr marL="0" indent="0">
              <a:buNone/>
            </a:pPr>
            <a:r>
              <a:rPr lang="en-US" altLang="zh-CN" dirty="0" smtClean="0"/>
              <a:t>{</a:t>
            </a:r>
          </a:p>
          <a:p>
            <a:pPr marL="0" indent="0">
              <a:buNone/>
            </a:pPr>
            <a:r>
              <a:rPr lang="en-US" altLang="zh-CN" dirty="0" smtClean="0"/>
              <a:t>    a = b + 1;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b =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575200" y="1752600"/>
            <a:ext cx="397078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{</a:t>
            </a:r>
          </a:p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en-US" altLang="zh-CN" dirty="0"/>
              <a:t> b = 0;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a = b + 1;</a:t>
            </a:r>
          </a:p>
          <a:p>
            <a:pPr marL="0" indent="0">
              <a:buNone/>
            </a:pPr>
            <a:r>
              <a:rPr lang="en-US" altLang="zh-CN" dirty="0" smtClean="0"/>
              <a:t>}</a:t>
            </a:r>
          </a:p>
          <a:p>
            <a:endParaRPr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3491880" y="4509120"/>
            <a:ext cx="1083320" cy="3600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39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1052736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关键字</a:t>
            </a:r>
            <a:r>
              <a:rPr lang="en-US" altLang="zh-CN" dirty="0" smtClean="0"/>
              <a:t>volatile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防止</a:t>
            </a:r>
            <a:r>
              <a:rPr lang="zh-CN" altLang="en-US" dirty="0" smtClean="0"/>
              <a:t>编译优化，不允许读写合并。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中断服务程序</a:t>
            </a:r>
            <a:r>
              <a:rPr lang="zh-CN" altLang="en-US" dirty="0"/>
              <a:t>中修改的供其它程序检测的变量需要加</a:t>
            </a:r>
            <a:r>
              <a:rPr lang="en-US" altLang="zh-CN" dirty="0"/>
              <a:t>volatile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en-US" altLang="zh-CN" dirty="0" smtClean="0"/>
              <a:t>2</a:t>
            </a:r>
            <a:r>
              <a:rPr lang="zh-CN" altLang="en-US" dirty="0"/>
              <a:t>、多任务环境下各任务间共享的标志应该加</a:t>
            </a:r>
            <a:r>
              <a:rPr lang="en-US" altLang="zh-CN" dirty="0"/>
              <a:t>volatile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 </a:t>
            </a:r>
            <a:r>
              <a:rPr lang="en-US" altLang="zh-CN" dirty="0" smtClean="0"/>
              <a:t>3</a:t>
            </a:r>
            <a:r>
              <a:rPr lang="zh-CN" altLang="en-US" dirty="0"/>
              <a:t>、存储器映射的硬件寄存器通常也要加</a:t>
            </a:r>
            <a:r>
              <a:rPr lang="en-US" altLang="zh-CN" dirty="0"/>
              <a:t>volatile</a:t>
            </a:r>
            <a:r>
              <a:rPr lang="zh-CN" altLang="en-US" dirty="0"/>
              <a:t>说明，因为每次对它的读写都可能由不同意义；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155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196752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内存越界与栈溢出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492896"/>
            <a:ext cx="8229600" cy="363326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Main()</a:t>
            </a:r>
          </a:p>
          <a:p>
            <a:pPr marL="0" indent="0">
              <a:buNone/>
            </a:pPr>
            <a:r>
              <a:rPr lang="en-US" altLang="zh-CN" dirty="0" smtClean="0"/>
              <a:t>{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x[16],y[16],z[16];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y[16] = 0xff;</a:t>
            </a:r>
          </a:p>
          <a:p>
            <a:pPr marL="0" indent="0">
              <a:buNone/>
            </a:pPr>
            <a:r>
              <a:rPr lang="en-US" altLang="zh-CN" dirty="0" smtClean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542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数组名与数组指针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>
            <a:normAutofit lnSpcReduction="10000"/>
          </a:bodyPr>
          <a:lstStyle/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intArray</a:t>
            </a:r>
            <a:r>
              <a:rPr lang="en-US" altLang="zh-CN" dirty="0" smtClean="0"/>
              <a:t>[10];</a:t>
            </a:r>
          </a:p>
          <a:p>
            <a:r>
              <a:rPr lang="en-US" altLang="zh-CN" dirty="0" err="1" smtClean="0"/>
              <a:t>sizeof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intArray</a:t>
            </a:r>
            <a:r>
              <a:rPr lang="en-US" altLang="zh-CN" dirty="0" smtClean="0"/>
              <a:t>) = 20;//</a:t>
            </a:r>
            <a:r>
              <a:rPr lang="zh-CN" altLang="en-US" dirty="0" smtClean="0"/>
              <a:t>数组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*p = </a:t>
            </a:r>
            <a:r>
              <a:rPr lang="en-US" altLang="zh-CN" dirty="0" err="1" smtClean="0"/>
              <a:t>intArray</a:t>
            </a:r>
            <a:r>
              <a:rPr lang="en-US" altLang="zh-CN" dirty="0" smtClean="0"/>
              <a:t>;</a:t>
            </a:r>
          </a:p>
          <a:p>
            <a:r>
              <a:rPr lang="en-US" altLang="zh-CN" dirty="0" err="1" smtClean="0"/>
              <a:t>sizeof</a:t>
            </a:r>
            <a:r>
              <a:rPr lang="en-US" altLang="zh-CN" dirty="0" smtClean="0"/>
              <a:t>(p) = 2;//</a:t>
            </a:r>
            <a:r>
              <a:rPr lang="zh-CN" altLang="en-US" dirty="0" smtClean="0"/>
              <a:t>存放地址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sizeof</a:t>
            </a:r>
            <a:r>
              <a:rPr lang="zh-CN" altLang="en-US" dirty="0" smtClean="0"/>
              <a:t>计算字节？计算字？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109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268760"/>
            <a:ext cx="8229600" cy="1143000"/>
          </a:xfrm>
        </p:spPr>
        <p:txBody>
          <a:bodyPr/>
          <a:lstStyle/>
          <a:p>
            <a:r>
              <a:rPr lang="en-US" altLang="zh-CN" dirty="0"/>
              <a:t>s</a:t>
            </a:r>
            <a:r>
              <a:rPr lang="en-US" altLang="zh-CN" dirty="0" smtClean="0"/>
              <a:t>tatic/extern</a:t>
            </a:r>
            <a:r>
              <a:rPr lang="zh-CN" altLang="en-US" dirty="0" smtClean="0"/>
              <a:t>关键字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561259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/>
              <a:t>Static</a:t>
            </a:r>
            <a:r>
              <a:rPr lang="zh-CN" altLang="en-US" dirty="0" smtClean="0"/>
              <a:t>作用范围：本函数体，模块内，内存仅被分配一次，下次调用仍维持上次的值</a:t>
            </a:r>
            <a:endParaRPr lang="en-US" altLang="zh-CN" dirty="0" smtClean="0"/>
          </a:p>
          <a:p>
            <a:r>
              <a:rPr lang="zh-CN" altLang="en-US" dirty="0" smtClean="0"/>
              <a:t>原则：尽可能多，但不能更多。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extern</a:t>
            </a:r>
            <a:r>
              <a:rPr lang="zh-CN" altLang="en-US" dirty="0" smtClean="0"/>
              <a:t>作用范围：全局跨模块。仅声明，未分配内存空间</a:t>
            </a:r>
            <a:endParaRPr lang="en-US" altLang="zh-CN" dirty="0" smtClean="0"/>
          </a:p>
          <a:p>
            <a:r>
              <a:rPr lang="zh-CN" altLang="en-US" dirty="0" smtClean="0"/>
              <a:t>原则：尽可能少，但不能更少。（</a:t>
            </a:r>
            <a:r>
              <a:rPr lang="en-US" altLang="zh-CN" dirty="0" smtClean="0"/>
              <a:t>API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220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编码风格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60849"/>
            <a:ext cx="9011344" cy="3600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the real audience : other programmers.</a:t>
            </a:r>
          </a:p>
          <a:p>
            <a:pPr marL="0" indent="0">
              <a:buNone/>
            </a:pPr>
            <a:r>
              <a:rPr lang="en-US" altLang="zh-CN" dirty="0" smtClean="0"/>
              <a:t>write for their benefit.          ------ code craft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 smtClean="0"/>
              <a:t>命名：变量、函数、文件（风格一致）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代码排版和布局（建议）：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函数不超过</a:t>
            </a:r>
            <a:r>
              <a:rPr lang="en-US" altLang="zh-CN" dirty="0" smtClean="0"/>
              <a:t>50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一行不超过</a:t>
            </a:r>
            <a:r>
              <a:rPr lang="en-US" altLang="zh-CN" dirty="0" smtClean="0"/>
              <a:t>80</a:t>
            </a:r>
            <a:r>
              <a:rPr lang="zh-CN" altLang="en-US" dirty="0" smtClean="0"/>
              <a:t>列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缩进不大于</a:t>
            </a:r>
            <a:r>
              <a:rPr lang="en-US" altLang="zh-CN" dirty="0" smtClean="0"/>
              <a:t>4</a:t>
            </a:r>
            <a:r>
              <a:rPr lang="zh-CN" altLang="en-US" dirty="0" smtClean="0"/>
              <a:t>级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代码群落加空行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相似的函数排版靠近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27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736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编写自注释代码</a:t>
            </a:r>
            <a:endParaRPr lang="en-US" altLang="zh-CN" dirty="0" smtClean="0"/>
          </a:p>
          <a:p>
            <a:r>
              <a:rPr lang="en-US" altLang="zh-CN" dirty="0" err="1" smtClean="0"/>
              <a:t>sFanCtrl</a:t>
            </a:r>
            <a:r>
              <a:rPr lang="en-US" altLang="zh-CN" dirty="0" smtClean="0"/>
              <a:t>(f32EnvironmentFitTemp,f32PowerFitTemp,f32TotalGridLongApparentPower);</a:t>
            </a:r>
          </a:p>
          <a:p>
            <a:r>
              <a:rPr lang="en-US" altLang="zh-CN" dirty="0" smtClean="0"/>
              <a:t>{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/>
              <a:t>   return(</a:t>
            </a:r>
            <a:r>
              <a:rPr lang="en-US" altLang="zh-CN" dirty="0" err="1"/>
              <a:t>uwfanstatusTemp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 smtClean="0"/>
              <a:t>}</a:t>
            </a:r>
          </a:p>
          <a:p>
            <a:r>
              <a:rPr lang="zh-CN" altLang="en-US" dirty="0" smtClean="0"/>
              <a:t>代码可自注释时，不再添加注释。</a:t>
            </a:r>
            <a:endParaRPr lang="en-US" altLang="zh-CN" dirty="0" smtClean="0"/>
          </a:p>
          <a:p>
            <a:r>
              <a:rPr lang="zh-CN" altLang="en-US" dirty="0" smtClean="0"/>
              <a:t>添加注释的原则：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解释</a:t>
            </a:r>
            <a:r>
              <a:rPr lang="en-US" altLang="zh-CN" dirty="0" smtClean="0"/>
              <a:t>why</a:t>
            </a:r>
            <a:r>
              <a:rPr lang="zh-CN" altLang="en-US" dirty="0" smtClean="0"/>
              <a:t>，而不是</a:t>
            </a:r>
            <a:r>
              <a:rPr lang="en-US" altLang="zh-CN" dirty="0" smtClean="0"/>
              <a:t>how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338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68" y="2132856"/>
            <a:ext cx="8445896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346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05273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性能优化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132856"/>
            <a:ext cx="8686800" cy="3993307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二八原则：过早或不必要的优化，是万恶之源</a:t>
            </a:r>
            <a:endParaRPr lang="en-US" altLang="zh-CN" dirty="0" smtClean="0"/>
          </a:p>
          <a:p>
            <a:r>
              <a:rPr lang="zh-CN" altLang="en-US" dirty="0" smtClean="0"/>
              <a:t>如下几个方面（时间、空间）：</a:t>
            </a:r>
            <a:endParaRPr lang="en-US" altLang="zh-CN" dirty="0" smtClean="0"/>
          </a:p>
          <a:p>
            <a:r>
              <a:rPr lang="zh-CN" altLang="en-US" dirty="0" smtClean="0"/>
              <a:t>宏</a:t>
            </a:r>
            <a:r>
              <a:rPr lang="en-US" altLang="zh-CN" dirty="0" smtClean="0"/>
              <a:t>#define /</a:t>
            </a:r>
            <a:r>
              <a:rPr lang="zh-CN" altLang="en-US" dirty="0" smtClean="0"/>
              <a:t>内联</a:t>
            </a:r>
            <a:r>
              <a:rPr lang="en-US" altLang="zh-CN" dirty="0" smtClean="0"/>
              <a:t>inline</a:t>
            </a:r>
          </a:p>
          <a:p>
            <a:r>
              <a:rPr lang="zh-CN" altLang="en-US" dirty="0"/>
              <a:t>内</a:t>
            </a:r>
            <a:r>
              <a:rPr lang="zh-CN" altLang="en-US" dirty="0" smtClean="0"/>
              <a:t>嵌汇编（关键部分）</a:t>
            </a:r>
            <a:endParaRPr lang="en-US" altLang="zh-CN" dirty="0" smtClean="0"/>
          </a:p>
          <a:p>
            <a:r>
              <a:rPr lang="zh-CN" altLang="en-US" dirty="0" smtClean="0"/>
              <a:t>利用硬件特性（</a:t>
            </a:r>
            <a:r>
              <a:rPr lang="en-US" altLang="zh-CN" dirty="0" smtClean="0"/>
              <a:t>DMA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RS232</a:t>
            </a:r>
            <a:r>
              <a:rPr lang="zh-CN" altLang="en-US" dirty="0" smtClean="0"/>
              <a:t>利用超时中断）</a:t>
            </a:r>
            <a:endParaRPr lang="en-US" altLang="zh-CN" dirty="0" smtClean="0"/>
          </a:p>
          <a:p>
            <a:r>
              <a:rPr lang="zh-CN" altLang="en-US" dirty="0" smtClean="0"/>
              <a:t>以空间换时间</a:t>
            </a:r>
            <a:endParaRPr lang="en-US" altLang="zh-CN" dirty="0" smtClean="0"/>
          </a:p>
          <a:p>
            <a:r>
              <a:rPr lang="zh-CN" altLang="en-US" dirty="0" smtClean="0"/>
              <a:t>编译优化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333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05273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软件模块和模块划分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/>
          <a:lstStyle/>
          <a:p>
            <a:r>
              <a:rPr lang="zh-CN" altLang="en-US" dirty="0" smtClean="0"/>
              <a:t>模块：一个</a:t>
            </a:r>
            <a:r>
              <a:rPr lang="en-US" altLang="zh-CN" dirty="0" smtClean="0"/>
              <a:t>.c</a:t>
            </a:r>
            <a:r>
              <a:rPr lang="zh-CN" altLang="en-US" dirty="0" smtClean="0"/>
              <a:t>和一个</a:t>
            </a:r>
            <a:r>
              <a:rPr lang="en-US" altLang="zh-CN" dirty="0" smtClean="0"/>
              <a:t>.h</a:t>
            </a:r>
            <a:r>
              <a:rPr lang="zh-CN" altLang="en-US" dirty="0" smtClean="0"/>
              <a:t>的结合，头文件（</a:t>
            </a:r>
            <a:r>
              <a:rPr lang="en-US" altLang="zh-CN" dirty="0" smtClean="0"/>
              <a:t>.h</a:t>
            </a:r>
            <a:r>
              <a:rPr lang="zh-CN" altLang="en-US" dirty="0" smtClean="0"/>
              <a:t>）是模块接口的声明。</a:t>
            </a:r>
            <a:endParaRPr lang="en-US" altLang="zh-CN" dirty="0" smtClean="0"/>
          </a:p>
          <a:p>
            <a:r>
              <a:rPr lang="zh-CN" altLang="en-US" dirty="0" smtClean="0"/>
              <a:t>原则：高内聚，低耦合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497" y="4005064"/>
            <a:ext cx="4872410" cy="2131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4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软件目录组织：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1.drivers 2.include 3.boards 4….. 5.common</a:t>
            </a:r>
          </a:p>
          <a:p>
            <a:r>
              <a:rPr lang="en-US" altLang="zh-CN" dirty="0"/>
              <a:t> </a:t>
            </a:r>
            <a:r>
              <a:rPr lang="zh-CN" altLang="en-US" dirty="0" smtClean="0"/>
              <a:t>芯片和板间</a:t>
            </a:r>
            <a:r>
              <a:rPr lang="en-US" altLang="zh-CN" dirty="0" smtClean="0"/>
              <a:t>share</a:t>
            </a:r>
            <a:r>
              <a:rPr lang="zh-CN" altLang="en-US" dirty="0" smtClean="0"/>
              <a:t>代码：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1. </a:t>
            </a:r>
            <a:r>
              <a:rPr lang="zh-CN" altLang="en-US" dirty="0" smtClean="0"/>
              <a:t>驱动和板极逻辑分离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2. </a:t>
            </a:r>
            <a:r>
              <a:rPr lang="zh-CN" altLang="en-US" dirty="0" smtClean="0"/>
              <a:t>业务和平台逻辑分离</a:t>
            </a:r>
            <a:endParaRPr lang="en-US" altLang="zh-CN" dirty="0" smtClean="0"/>
          </a:p>
          <a:p>
            <a:r>
              <a:rPr lang="zh-CN" altLang="en-US" dirty="0" smtClean="0"/>
              <a:t>任务划分原则：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1.  I/O</a:t>
            </a:r>
            <a:r>
              <a:rPr lang="zh-CN" altLang="en-US" dirty="0" smtClean="0"/>
              <a:t>原则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2.</a:t>
            </a:r>
            <a:r>
              <a:rPr lang="zh-CN" altLang="en-US" dirty="0" smtClean="0"/>
              <a:t>优先级原则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3.</a:t>
            </a:r>
            <a:r>
              <a:rPr lang="zh-CN" altLang="en-US" dirty="0" smtClean="0"/>
              <a:t>功能耦合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4.</a:t>
            </a:r>
            <a:r>
              <a:rPr lang="zh-CN" altLang="en-US" dirty="0" smtClean="0"/>
              <a:t>大量运算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5.</a:t>
            </a:r>
            <a:r>
              <a:rPr lang="zh-CN" altLang="en-US" dirty="0" smtClean="0"/>
              <a:t>频率组合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754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</a:t>
            </a:r>
            <a:r>
              <a:rPr lang="zh-CN" altLang="en-US" dirty="0"/>
              <a:t>防御性编程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04864"/>
            <a:ext cx="8507288" cy="3921299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/>
              <a:t>Murphy’s Law: if  anything can go wrong ,it will. </a:t>
            </a:r>
          </a:p>
          <a:p>
            <a:r>
              <a:rPr lang="zh-CN" altLang="en-US" dirty="0" smtClean="0"/>
              <a:t>防御性编码风格：</a:t>
            </a:r>
            <a:endParaRPr lang="en-US" altLang="zh-CN" dirty="0" smtClean="0"/>
          </a:p>
          <a:p>
            <a:r>
              <a:rPr lang="en-US" altLang="zh-CN" dirty="0" smtClean="0"/>
              <a:t>Following language idioms</a:t>
            </a:r>
          </a:p>
          <a:p>
            <a:r>
              <a:rPr lang="en-US" altLang="zh-CN" dirty="0" smtClean="0"/>
              <a:t>Checking numeric limits</a:t>
            </a:r>
          </a:p>
          <a:p>
            <a:r>
              <a:rPr lang="en-US" altLang="zh-CN" dirty="0" smtClean="0"/>
              <a:t>……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dirty="0" err="1" smtClean="0">
                <a:solidFill>
                  <a:srgbClr val="FF0000"/>
                </a:solidFill>
              </a:rPr>
              <a:t>timefst</a:t>
            </a:r>
            <a:r>
              <a:rPr lang="en-US" altLang="zh-CN" dirty="0" smtClean="0">
                <a:solidFill>
                  <a:srgbClr val="FF0000"/>
                </a:solidFill>
              </a:rPr>
              <a:t> + </a:t>
            </a:r>
            <a:r>
              <a:rPr lang="en-US" altLang="zh-CN" dirty="0" err="1" smtClean="0">
                <a:solidFill>
                  <a:srgbClr val="FF0000"/>
                </a:solidFill>
              </a:rPr>
              <a:t>timesnd</a:t>
            </a:r>
            <a:r>
              <a:rPr lang="en-US" altLang="zh-CN" dirty="0" smtClean="0">
                <a:solidFill>
                  <a:srgbClr val="FF0000"/>
                </a:solidFill>
              </a:rPr>
              <a:t>)/2;</a:t>
            </a:r>
          </a:p>
          <a:p>
            <a:pPr marL="0" indent="0">
              <a:buNone/>
            </a:pPr>
            <a:r>
              <a:rPr lang="en-US" altLang="zh-CN" dirty="0" err="1" smtClean="0">
                <a:solidFill>
                  <a:srgbClr val="FF0000"/>
                </a:solidFill>
              </a:rPr>
              <a:t>timefst</a:t>
            </a:r>
            <a:r>
              <a:rPr lang="en-US" altLang="zh-CN" dirty="0" smtClean="0">
                <a:solidFill>
                  <a:srgbClr val="FF0000"/>
                </a:solidFill>
              </a:rPr>
              <a:t>/2 + </a:t>
            </a:r>
            <a:r>
              <a:rPr lang="en-US" altLang="zh-CN" dirty="0" err="1" smtClean="0">
                <a:solidFill>
                  <a:srgbClr val="FF0000"/>
                </a:solidFill>
              </a:rPr>
              <a:t>timesnd</a:t>
            </a:r>
            <a:r>
              <a:rPr lang="en-US" altLang="zh-CN" dirty="0" smtClean="0">
                <a:solidFill>
                  <a:srgbClr val="FF0000"/>
                </a:solidFill>
              </a:rPr>
              <a:t> /2;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208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断言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777283"/>
          </a:xfrm>
        </p:spPr>
        <p:txBody>
          <a:bodyPr/>
          <a:lstStyle/>
          <a:p>
            <a:r>
              <a:rPr lang="zh-CN" altLang="en-US" dirty="0"/>
              <a:t>判断一个表达式，如果结果为假，输出诊断</a:t>
            </a:r>
            <a:r>
              <a:rPr lang="zh-CN" altLang="en-US" dirty="0" smtClean="0"/>
              <a:t>消息</a:t>
            </a:r>
            <a:r>
              <a:rPr lang="zh-CN" altLang="en-US" dirty="0"/>
              <a:t>并中止</a:t>
            </a:r>
            <a:r>
              <a:rPr lang="zh-CN" altLang="en-US" dirty="0" smtClean="0"/>
              <a:t>程序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en-US" dirty="0"/>
              <a:t>在函数开始处检验传入参数的合法性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2.</a:t>
            </a:r>
            <a:r>
              <a:rPr lang="zh-CN" altLang="en-US" dirty="0"/>
              <a:t>用来检查程序的逻辑</a:t>
            </a:r>
            <a:r>
              <a:rPr lang="zh-CN" altLang="en-US" dirty="0" smtClean="0"/>
              <a:t>正确性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消除所做的隐式假定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b="1" dirty="0"/>
              <a:t>#include &lt;</a:t>
            </a:r>
            <a:r>
              <a:rPr lang="en-US" altLang="zh-CN" b="1" dirty="0" err="1"/>
              <a:t>assert.h</a:t>
            </a:r>
            <a:r>
              <a:rPr lang="en-US" altLang="zh-CN" b="1" dirty="0"/>
              <a:t>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7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340768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测试和评审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561259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测试：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白盒测试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TDD</a:t>
            </a:r>
          </a:p>
          <a:p>
            <a:pPr marL="0" indent="0">
              <a:buNone/>
            </a:pPr>
            <a:r>
              <a:rPr lang="en-US" altLang="zh-CN" dirty="0" smtClean="0"/>
              <a:t>       </a:t>
            </a:r>
            <a:r>
              <a:rPr lang="en-US" altLang="zh-CN" dirty="0" err="1" smtClean="0"/>
              <a:t>CuTest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</a:t>
            </a:r>
            <a:r>
              <a:rPr lang="en-US" altLang="zh-CN" dirty="0" err="1" smtClean="0"/>
              <a:t>Cunit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评审：网页、邮件等</a:t>
            </a:r>
            <a:endParaRPr lang="en-US" altLang="zh-CN" dirty="0" smtClean="0"/>
          </a:p>
          <a:p>
            <a:r>
              <a:rPr lang="en-US" altLang="zh-CN" dirty="0" smtClean="0"/>
              <a:t>Code review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002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Bios</a:t>
            </a:r>
            <a:r>
              <a:rPr lang="zh-CN" altLang="en-US" dirty="0" smtClean="0"/>
              <a:t>安装插件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en-US" altLang="zh-CN" dirty="0" smtClean="0"/>
              <a:t>1.bios_setupwin32</a:t>
            </a:r>
          </a:p>
          <a:p>
            <a:r>
              <a:rPr lang="en-US" altLang="zh-CN" dirty="0" smtClean="0"/>
              <a:t>2.</a:t>
            </a:r>
            <a:r>
              <a:rPr lang="en-US" altLang="zh-CN" dirty="0"/>
              <a:t> tirtos_c2000_setupwin32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557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Bios</a:t>
            </a:r>
            <a:r>
              <a:rPr lang="zh-CN" altLang="en-US" dirty="0"/>
              <a:t>操作系统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Main</a:t>
            </a:r>
            <a:r>
              <a:rPr lang="zh-CN" altLang="zh-CN" dirty="0"/>
              <a:t>函数初始化结束最后需调用操作系统的库函数</a:t>
            </a:r>
            <a:r>
              <a:rPr lang="en-US" altLang="zh-CN" dirty="0" err="1"/>
              <a:t>BIOS_start</a:t>
            </a:r>
            <a:r>
              <a:rPr lang="en-US" altLang="zh-CN" dirty="0"/>
              <a:t>();</a:t>
            </a:r>
            <a:r>
              <a:rPr lang="zh-CN" altLang="zh-CN" dirty="0"/>
              <a:t>。需注意，</a:t>
            </a:r>
            <a:r>
              <a:rPr lang="en-US" altLang="zh-CN" dirty="0"/>
              <a:t>main</a:t>
            </a:r>
            <a:r>
              <a:rPr lang="zh-CN" altLang="zh-CN" dirty="0"/>
              <a:t>函数中一定不能存在无限循环，否则整个</a:t>
            </a:r>
            <a:r>
              <a:rPr lang="en-US" altLang="zh-CN" dirty="0"/>
              <a:t>BIOS</a:t>
            </a:r>
            <a:r>
              <a:rPr lang="zh-CN" altLang="zh-CN" dirty="0"/>
              <a:t>程序存在瘫痪的风险</a:t>
            </a:r>
            <a:endParaRPr lang="en-US" altLang="zh-CN" dirty="0"/>
          </a:p>
          <a:p>
            <a:r>
              <a:rPr lang="zh-CN" altLang="zh-CN" dirty="0"/>
              <a:t>在</a:t>
            </a:r>
            <a:r>
              <a:rPr lang="en-US" altLang="zh-CN" dirty="0"/>
              <a:t>DSP/BIOS</a:t>
            </a:r>
            <a:r>
              <a:rPr lang="zh-CN" altLang="zh-CN" dirty="0"/>
              <a:t>中，硬件中断有最高的优先级，然后是软件中断，软件中断可以被高优先权软件中断或硬件中断抢先。任务的优先权低于软件中断。而后台线程</a:t>
            </a:r>
            <a:r>
              <a:rPr lang="en-US" altLang="zh-CN" dirty="0" err="1"/>
              <a:t>idle_loop</a:t>
            </a:r>
            <a:r>
              <a:rPr lang="zh-CN" altLang="zh-CN" dirty="0"/>
              <a:t>是优先级最低的线程，此后台线程为空闲循环。软件中断和硬件中断均无挂起状态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63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640102" cy="520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088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Bios</a:t>
            </a:r>
            <a:r>
              <a:rPr lang="zh-CN" altLang="zh-CN" dirty="0" smtClean="0"/>
              <a:t>底层</a:t>
            </a:r>
            <a:r>
              <a:rPr lang="zh-CN" altLang="zh-CN" dirty="0"/>
              <a:t>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492896"/>
            <a:ext cx="6696744" cy="36910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696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908720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BOOT</a:t>
            </a:r>
            <a:r>
              <a:rPr lang="zh-CN" altLang="en-US" dirty="0" smtClean="0"/>
              <a:t>配置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29600" cy="46085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54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3203" y="1052736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创建任务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852936"/>
            <a:ext cx="6696743" cy="360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06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2060848"/>
            <a:ext cx="7200801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 txBox="1">
            <a:spLocks/>
          </p:cNvSpPr>
          <p:nvPr/>
        </p:nvSpPr>
        <p:spPr>
          <a:xfrm>
            <a:off x="436115" y="980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创建中断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051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1772816"/>
            <a:ext cx="692467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50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dirty="0" smtClean="0"/>
              <a:t>谢谢！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45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4660</TotalTime>
  <Words>734</Words>
  <Application>Microsoft Office PowerPoint</Application>
  <PresentationFormat>全屏显示(4:3)</PresentationFormat>
  <Paragraphs>133</Paragraphs>
  <Slides>26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Office 主题​​</vt:lpstr>
      <vt:lpstr>语言编程及Bios操作系统</vt:lpstr>
      <vt:lpstr>  语言编程</vt:lpstr>
      <vt:lpstr> 语法及语义</vt:lpstr>
      <vt:lpstr>乱序</vt:lpstr>
      <vt:lpstr>关键字volatile</vt:lpstr>
      <vt:lpstr>内存越界与栈溢出</vt:lpstr>
      <vt:lpstr>数组名与数组指针</vt:lpstr>
      <vt:lpstr>static/extern关键字</vt:lpstr>
      <vt:lpstr>C编码风格</vt:lpstr>
      <vt:lpstr>PowerPoint 演示文稿</vt:lpstr>
      <vt:lpstr>PowerPoint 演示文稿</vt:lpstr>
      <vt:lpstr>C性能优化</vt:lpstr>
      <vt:lpstr>C软件模块和模块划分</vt:lpstr>
      <vt:lpstr>PowerPoint 演示文稿</vt:lpstr>
      <vt:lpstr> C防御性编程 </vt:lpstr>
      <vt:lpstr>断言 </vt:lpstr>
      <vt:lpstr>C测试和评审</vt:lpstr>
      <vt:lpstr>Bios安装插件</vt:lpstr>
      <vt:lpstr>Bios操作系统</vt:lpstr>
      <vt:lpstr>PowerPoint 演示文稿</vt:lpstr>
      <vt:lpstr>Bios底层配置</vt:lpstr>
      <vt:lpstr>BOOT配置</vt:lpstr>
      <vt:lpstr>创建任务</vt:lpstr>
      <vt:lpstr>PowerPoint 演示文稿</vt:lpstr>
      <vt:lpstr>PowerPoint 演示文稿</vt:lpstr>
      <vt:lpstr>PowerPoint 演示文稿</vt:lpstr>
    </vt:vector>
  </TitlesOfParts>
  <Company>CHINT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张国菊</dc:creator>
  <cp:lastModifiedBy>张国菊</cp:lastModifiedBy>
  <cp:revision>51</cp:revision>
  <dcterms:created xsi:type="dcterms:W3CDTF">2017-08-30T07:46:18Z</dcterms:created>
  <dcterms:modified xsi:type="dcterms:W3CDTF">2017-12-04T08:56:39Z</dcterms:modified>
</cp:coreProperties>
</file>